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AgentOE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A0AEC0"/>
                </a:solidFill>
              </a:defRPr>
            </a:pPr>
            <a:r>
              <a:t>차세대 멀티테넌트 Agentic AI 음성 콜봇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94560"/>
                </a:solidFill>
              </a:defRPr>
            </a:pPr>
            <a:r>
              <a:t>2026년 4월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E94560"/>
                </a:solidFill>
              </a:defRPr>
            </a:pPr>
            <a:r>
              <a:t>🚀 Kick-off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오늘의 발표 순서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A0AEC0"/>
                </a:solidFill>
              </a:defRPr>
            </a:pPr>
            <a:r>
              <a:t>1. 프로젝트 배경 및 목표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A0AEC0"/>
                </a:solidFill>
              </a:defRPr>
            </a:pPr>
            <a:r>
              <a:t>2. 플랫폼 아키텍처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A0AEC0"/>
                </a:solidFill>
              </a:defRPr>
            </a:pPr>
            <a:r>
              <a:t>3. AI 기술 스택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A0AEC0"/>
                </a:solidFill>
              </a:defRPr>
            </a:pPr>
            <a:r>
              <a:t>4. 멀티테넌트 &amp; 보안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A0AEC0"/>
                </a:solidFill>
              </a:defRPr>
            </a:pPr>
            <a:r>
              <a:t>5. 개발 일정 (WBS)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000">
                <a:solidFill>
                  <a:srgbClr val="A0AEC0"/>
                </a:solidFill>
              </a:defRPr>
            </a:pPr>
            <a:r>
              <a:t>6. 팀 구성 및 다음 단계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해결하는 문제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❌ 기존 콜봇의 한계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단순 IVR 수준의 자동응답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자연어 이해 불가능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시나리오 이탈 시 대응 불가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❌ 운영 복잡성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테넌트별 독립 배포 불가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설정 관리 어려움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❌ AI 통합 어려움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STT/LLM/TTS 각각 독립 구현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장애 연계 불가능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AgentOE의 해결책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468880" cy="4114800"/>
          </a:xfrm>
          <a:prstGeom prst="roundRect">
            <a:avLst/>
          </a:prstGeom>
          <a:solidFill>
            <a:srgbClr val="0F3460"/>
          </a:solidFill>
          <a:ln w="254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94560"/>
                </a:solidFill>
              </a:defRPr>
            </a:pPr>
            <a:r>
              <a:t>🤖 Agentic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Groq Whisper STT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Llama 4 Scout LLM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Google Neural2 TTS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통합 파이프라인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463040"/>
            <a:ext cx="2468880" cy="4114800"/>
          </a:xfrm>
          <a:prstGeom prst="roundRect">
            <a:avLst/>
          </a:prstGeom>
          <a:solidFill>
            <a:srgbClr val="0F3460"/>
          </a:solidFill>
          <a:ln w="254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94560"/>
                </a:solidFill>
              </a:defRPr>
            </a:pPr>
            <a:r>
              <a:t>🏢 멀티테넌트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28600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완전 격리된 테넌트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JWT 기반 격리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중앙화된 정책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RBAC 8단계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463040"/>
            <a:ext cx="2468880" cy="4114800"/>
          </a:xfrm>
          <a:prstGeom prst="roundRect">
            <a:avLst/>
          </a:prstGeom>
          <a:solidFill>
            <a:srgbClr val="0F3460"/>
          </a:solidFill>
          <a:ln w="254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94560"/>
                </a:solidFill>
              </a:defRPr>
            </a:pPr>
            <a:r>
              <a:t>🛡️ 보안 거버넌스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28600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Policy Gate G1~G5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Kill Switch 제어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MCP Whitelist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감사 추적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시스템 아키텍처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🔗 컴포넌트 구성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VBGW (gRPC/WebSocket) → API Gateway → FastAPI Engine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FastAPI → [Groq STT/LLM] &amp; [Google TTS]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상태 저장소: Redis (hot) ↔ MongoDB (persistent)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📊 성능 목표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세션 응답시간 (P95) &lt; 2.5초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동시 세션 100개+ 지원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가용성 99.9%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세션 생애주기 (FSM)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상태 전이 흐름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IDLE → LISTENING → SPEAKING_DETECTED → PROCESSING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→ INFERRING → RESPONDING → ENDED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🎯 각 상태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• IDLE: 대기 상태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• LISTENING: 음성 수신 중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• SPEAKING_DETECTED: 음성 끝 감지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• PROCESSING: STT 및 정책 검증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• INFERRING: LLM 추론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• RESPONDING: TTS 재생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• ENDED: 종료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 기술 스택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468880" cy="4114800"/>
          </a:xfrm>
          <a:prstGeom prst="roundRect">
            <a:avLst/>
          </a:prstGeom>
          <a:solidFill>
            <a:srgbClr val="0F3460"/>
          </a:solidFill>
          <a:ln w="254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94560"/>
                </a:solidFill>
              </a:defRPr>
            </a:pPr>
            <a:r>
              <a:t>🎙️ STT (음성인식)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Groq Whisper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Large v3 Turbo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PCM 16kHz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WER &lt; 15%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P95 &lt; 500ms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463040"/>
            <a:ext cx="2468880" cy="4114800"/>
          </a:xfrm>
          <a:prstGeom prst="roundRect">
            <a:avLst/>
          </a:prstGeom>
          <a:solidFill>
            <a:srgbClr val="0F3460"/>
          </a:solidFill>
          <a:ln w="254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94560"/>
                </a:solidFill>
              </a:defRPr>
            </a:pPr>
            <a:r>
              <a:t>🧠 LLM (추론)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28600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Groq Llama 4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Scout 모델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스트리밍 응답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128K Context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Filler Audio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463040"/>
            <a:ext cx="2468880" cy="4114800"/>
          </a:xfrm>
          <a:prstGeom prst="roundRect">
            <a:avLst/>
          </a:prstGeom>
          <a:solidFill>
            <a:srgbClr val="0F3460"/>
          </a:solidFill>
          <a:ln w="254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6459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94560"/>
                </a:solidFill>
              </a:defRPr>
            </a:pPr>
            <a:r>
              <a:t>🔊 TTS (음성합성)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286000"/>
            <a:ext cx="228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Google Neural2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ko-KR 지원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PCM 22kHz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MOS &gt; 3.5</a:t>
            </a:r>
          </a:p>
          <a:p>
            <a:pPr>
              <a:spcAft>
                <a:spcPts val="600"/>
              </a:spcAft>
              <a:defRPr sz="1200">
                <a:solidFill>
                  <a:srgbClr val="A0AEC0"/>
                </a:solidFill>
              </a:defRPr>
            </a:pPr>
            <a:r>
              <a:t>P95 &lt; 300ms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Policy Gate — 5단계 리스크 분류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7863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레벨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명칭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조건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예시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G1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조회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조건 없음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계좌 조회 → 항상 통과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G2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거래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감시 &amp; 로그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소액 송금 → 로그 후 승인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G3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인증필요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사용자 인증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대액 송금 → OTP 요구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G4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이중승인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관리자 2명 승인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권한 변경 → 감사자 2명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G5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법무검토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법무 팀 검토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계약 수정 → 거부 또는 검토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멀티테넌트 아키텍처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🔒 격리 메커니즘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JWT tenant_id 기반 API 격리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MongoDB {tenant_id} 필터 자동 추가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Redis key prefix 격리: session:{tenant_id}:{session_id}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👤 RBAC (8단계 역할)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super_admin → tenant_admin → policy_manager → operator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→ auditor → analyst → agent_manager → viewer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📊 격리 효과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테넌트 A의 데이터, 테넌트 B에서 접근 불가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요청 JWT 토큰의 tenant_id가 우선됨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Kill Switch &amp; MCP 거버넌스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🔴 Kill Switch (긴급 차단)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Tenant Level: 특정 테넌트 전체 차단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Feature Level: 특정 기능 (STT/LLM/TTS) 차단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Scenario Level: 특정 시나리오만 차단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📋 MCP Governance (다중 커넥터 정책)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Whitelist 등록제: 승인된 커넥터만 사용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세션 스코프 자격증명: 각 세션마다 토큰 검증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감사 추적: 모든 MCP 호출 기록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MongoDB — 스토리지 설계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✅ MongoDB 선택 이유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스키마 유연성: 필드 추가 시 마이그레이션 불필요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Replica Set: 고가용성 (Primary + 2x Secondary)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Time Series Collection: 감사 로그 시간 기반 압축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Change Streams: 실시간 데이터 감시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📦 9개 컬렉션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sessions, audio_events, transcriptions, llm_responses,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call_logs, tenant_config, policies, audit_logs, recordings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🔑 TTL 인덱스: 세션 자동 만료 (24시간)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전체 기술 스택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7863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965960"/>
                <a:gridCol w="1965960"/>
                <a:gridCol w="1965960"/>
              </a:tblGrid>
              <a:tr h="58782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계층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기술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버전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선택 이유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Python FastAPI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0.111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비동기, 고성능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Database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MongoDB Replica Set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7.0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유연한 스키마, HA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Cache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Redis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7.2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초저지연 세션 상태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STT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Groq Whisper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v3 Turbo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최고 정확도+속도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LLM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Groq Llama 4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Scout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128K 컨텍스트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TTS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Google Neural2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ko-KR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자연스러운 한국어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개발 일정 — 3개월 MVP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📅 Sprint 계획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Sprint 1-2 (4주): 기반 인프라 &amp; Docker 환경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Sprint 3-4 (4주): 핵심 AI 기능 &amp; 세션 FSM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Sprint 5-6 (4주): Admin Console &amp; 통합 테스트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📊 예상 공수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백엔드: 45명-일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AI 통합: 30명-일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프론트엔드: 15명-일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DevOps &amp; QA: 10명-일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총 공수: ~100명-일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팀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78638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280"/>
                <a:gridCol w="2621280"/>
                <a:gridCol w="2621280"/>
              </a:tblGrid>
              <a:tr h="51435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역할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인원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주요 책임</a:t>
                      </a:r>
                    </a:p>
                  </a:txBody>
                  <a:tcPr>
                    <a:solidFill>
                      <a:srgbClr val="E9456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Product Manager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1명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기획, 우선순위 관리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Backend Engineer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2명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FastAPI, MongoDB, Redis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AI Engineer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2명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LLM 통합, STT/TTS 최적화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Frontend Engineer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1명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Admin Console (React)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DevOps Engineer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1명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인프라, 배포 자동화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QA Engineer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1명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테스트 계획, 자동화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Infrastructure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1명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A0AEC0"/>
                          </a:solidFill>
                        </a:rPr>
                        <a:t>Kubernetes, 모니터링</a:t>
                      </a:r>
                    </a:p>
                  </a:txBody>
                  <a:tcPr>
                    <a:solidFill>
                      <a:srgbClr val="0A234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주요 리스크 및 대응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⚠️ Risk 1: Groq API 장애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대응: 로컬 LLM 페일오버, Circuit Breaker 패턴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⚠️ Risk 2: MongoDB 복제 지연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대응: Redis 캐싱 강화, Read Preference 조정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⚠️ Risk 3: 성능 목표 미달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대응: 조기 성능 테스트, 병목 분석, 최적화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성공 지표 (KPI)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⚡ 성능 KPI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P95 응답시간 &lt; 2.5초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동시 세션 100개+ 지원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🎯 품질 KPI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STT WER &lt; 15%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TTS MOS &gt; 3.5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📈 운영 KPI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가용성 99.9%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배포 주기 2주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핫픽스 &lt; 1시간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Go-Live 게이트 체크리스트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✅ 기술 준비 (Technical Readiness)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모든 AI 서비스 통합 완료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MongoDB Replica Set 안정성 검증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부하 테스트 100+ 동시 세션 성공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✅ 운영 준비 (Operational Readiness)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24/7 모니터링 체계 구축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장애 대응 매뉴얼 완성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Admin Console 테넌트 관리 가능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✅ 컴플라이언스 (Compliance)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감사 로그 수집 검증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• Policy Gate 모든 레벨 테스트 완료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다음 단계 — Sprint 1 시작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45720"/>
          </a:xfrm>
          <a:prstGeom prst="rect">
            <a:avLst/>
          </a:prstGeom>
          <a:solidFill>
            <a:srgbClr val="E94560"/>
          </a:solidFill>
          <a:ln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📋 Week 1-2 액션 아이템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☐ Docker Compose 환경 구성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☐ MongoDB Replica Set 초기화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☐ FastAPI 스켈레톤 코드 리뷰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☐ Groq API 키 발급 및 테스트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📋 Week 3 준비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☐ 팀 코딩 컨벤션 정의 및 교육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☐ GitHub 저장소 구성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   ☐ CI/CD 파이프라인 구축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A0AEC0"/>
                </a:solidFill>
              </a:defRPr>
            </a:pPr>
            <a:r>
              <a:t>🎯 Sprint 1 목표: 로컬 개발 환경 완성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94560"/>
                </a:solidFill>
              </a:defRPr>
            </a:pPr>
            <a:r>
              <a:t>질문 및 토론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A0AEC0"/>
                </a:solidFill>
              </a:defRPr>
            </a:pPr>
            <a:r>
              <a:t>AgentOE 개발팀</a:t>
            </a:r>
          </a:p>
          <a:p>
            <a:pPr algn="ctr">
              <a:defRPr sz="1800">
                <a:solidFill>
                  <a:srgbClr val="E94560"/>
                </a:solidFill>
              </a:defRPr>
            </a:pPr>
            <a:r>
              <a:t>agentoE@company.com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